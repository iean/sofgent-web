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ba7faa77b54d06" /><Relationship Type="http://schemas.openxmlformats.org/officeDocument/2006/relationships/extended-properties" Target="/docProps/app.xml" Id="R8191b269bb06474f" /><Relationship Type="http://schemas.openxmlformats.org/officeDocument/2006/relationships/officeDocument" Target="/ppt/presentation.xml" Id="R38a530975c764a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9aedbf3229433d"/>
  </p:sldMasterIdLst>
  <p:notesMasterIdLst>
    <p:notesMasterId xmlns:r="http://schemas.openxmlformats.org/officeDocument/2006/relationships" r:id="R86e03732305540c6"/>
  </p:notesMasterIdLst>
  <p:sldIdLst>
    <p:sldId xmlns:r="http://schemas.openxmlformats.org/officeDocument/2006/relationships" id="256" r:id="Rdad29abe7e1d4dd4"/>
    <p:sldId xmlns:r="http://schemas.openxmlformats.org/officeDocument/2006/relationships" id="257" r:id="R45bc8c3c24af44ce"/>
    <p:sldId xmlns:r="http://schemas.openxmlformats.org/officeDocument/2006/relationships" id="258" r:id="Rf9fc5b44474448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1fb3479174fe5" /><Relationship Type="http://schemas.openxmlformats.org/officeDocument/2006/relationships/slideMaster" Target="/ppt/slideMasters/slideMaster1.xml" Id="R029aedbf3229433d" /><Relationship Type="http://schemas.openxmlformats.org/officeDocument/2006/relationships/notesMaster" Target="/ppt/notesMasters/notesMaster1.xml" Id="R86e03732305540c6" /><Relationship Type="http://schemas.openxmlformats.org/officeDocument/2006/relationships/presProps" Target="/ppt/presProps.xml" Id="Raba0852617534920" /><Relationship Type="http://schemas.openxmlformats.org/officeDocument/2006/relationships/viewProps" Target="/ppt/viewProps.xml" Id="R82a254123a6940f6" /><Relationship Type="http://schemas.openxmlformats.org/officeDocument/2006/relationships/tableStyles" Target="/ppt/tableStyles.xml" Id="Ra7fe2607423c4d60" /><Relationship Type="http://schemas.openxmlformats.org/officeDocument/2006/relationships/slide" Target="/ppt/slides/slide1.xml" Id="Rdad29abe7e1d4dd4" /><Relationship Type="http://schemas.openxmlformats.org/officeDocument/2006/relationships/slide" Target="/ppt/slides/slide2.xml" Id="R45bc8c3c24af44ce" /><Relationship Type="http://schemas.openxmlformats.org/officeDocument/2006/relationships/slide" Target="/ppt/slides/slide3.xml" Id="Rf9fc5b44474448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6f56c8a0b540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7812df2eb47c0" /><Relationship Type="http://schemas.openxmlformats.org/officeDocument/2006/relationships/notesMaster" Target="/ppt/notesMasters/notesMaster1.xml" Id="R4d9bee6824c146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eda3c8fa0146a1" /><Relationship Type="http://schemas.openxmlformats.org/officeDocument/2006/relationships/notesMaster" Target="/ppt/notesMasters/notesMaster1.xml" Id="R8287d0815c5f40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b728bead8442f2" /><Relationship Type="http://schemas.openxmlformats.org/officeDocument/2006/relationships/notesMaster" Target="/ppt/notesMasters/notesMaster1.xml" Id="Rfe0249a2ba4f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4e70cc8aa46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3b77e913a8456d" /><Relationship Type="http://schemas.openxmlformats.org/officeDocument/2006/relationships/slideLayout" Target="/ppt/slideLayouts/slideLayout1.xml" Id="R087f4c71136f44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7f4c71136f44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2ef78cc194e97" /><Relationship Type="http://schemas.openxmlformats.org/officeDocument/2006/relationships/image" Target="/ppt/media/image.bin" Id="R1678da685ab34afb" /><Relationship Type="http://schemas.openxmlformats.org/officeDocument/2006/relationships/image" Target="/ppt/media/image.png" Id="R6c861a62ff244efc" /><Relationship Type="http://schemas.openxmlformats.org/officeDocument/2006/relationships/notesSlide" Target="/ppt/notesSlides/notesSlide1.xml" Id="R6f98cdf9b95743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3e2e252e94dc3" /><Relationship Type="http://schemas.openxmlformats.org/officeDocument/2006/relationships/image" Target="/ppt/media/image2.png" Id="Recdf4e666c9e4c15" /><Relationship Type="http://schemas.openxmlformats.org/officeDocument/2006/relationships/notesSlide" Target="/ppt/notesSlides/notesSlide2.xml" Id="Rc596a55980a644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3c3a29e84a27" /><Relationship Type="http://schemas.openxmlformats.org/officeDocument/2006/relationships/image" Target="/ppt/media/image3.png" Id="R57280a51b4f7474f" /><Relationship Type="http://schemas.openxmlformats.org/officeDocument/2006/relationships/notesSlide" Target="/ppt/notesSlides/notesSlide3.xml" Id="R8b2763847f6c4e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F4C10-1C77-489A-A61B-5CC59E36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8"/>
          </a:solidFill>
          <a:ln xmlns:a="http://schemas.openxmlformats.org/drawingml/2006/main" w="0">
            <a:solidFill>
              <a:srgbClr val="050B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41ACA-4555-42C6-9497-931F8751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750"/>
          </a:solidFill>
          <a:ln xmlns:a="http://schemas.openxmlformats.org/drawingml/2006/main" w="0">
            <a:solidFill>
              <a:srgbClr val="0C375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9F026-47ED-41A9-813F-C63C8E4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33A"/>
          </a:solidFill>
          <a:ln xmlns:a="http://schemas.openxmlformats.org/drawingml/2006/main" w="0">
            <a:solidFill>
              <a:srgbClr val="0A23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F2B5F-B687-48C2-8013-15BE9F0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009F7-7C67-43E4-9E44-A517F15F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8BDF0-0DA5-436D-BB65-0EF568CE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194DE-3FC6-4B0A-8CB5-706B965F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FACE0-9AAB-40E3-BBBB-C5839C95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2958A-EBDF-4F80-B3F3-DB0B053A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4D148-B306-4939-910A-39BC817B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A7EC2-92C6-4402-A374-B97E681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48302-9118-4F64-8FDE-6AF2052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3EF4E-F72F-439E-AE1C-8A74CB61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B59C7A-F65A-488F-8FEF-24CDE0B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1B943-2FFE-4160-98CB-E36773D8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548A6-414E-4E3C-B477-F93026DE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3D747-5E94-4358-8950-BDD8C0A6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68A57-BA03-4A91-A671-173247E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1E44B-5AE1-43A4-BBFB-0E75FF9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09AB02-F729-4C74-8DCE-B953F025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E1656-2FFA-48BA-B3D4-CC6D8893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EAC3B-789E-4B39-9DAA-880E9BE3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D2F72-A39D-44AB-888E-F4EC79B6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78da685ab34afb"/>
          <a:stretch xmlns:a="http://schemas.openxmlformats.org/drawingml/2006/main"/>
        </p:blipFill>
        <p:spPr>
          <a:xfrm xmlns:a="http://schemas.openxmlformats.org/drawingml/2006/main">
            <a:off x="685800" y="533400"/>
            <a:ext cx="2095500" cy="5143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32DC3-1643-4B0A-91F4-7B0964DD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22479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954AC-F920-4694-8C62-5993177E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35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SOFGENT AI PRODUCT STUDIO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76FF28-6296-4E70-A51F-C174C87C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048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Build AI systems, SaaS MVPs, and delivery capacity fast.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F8EC5-C483-4FDF-A702-FE38708B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SofGent helps startups and SMEs ship AI-powered services, production-ready MVPs, and embedded engineering support without long vendor cycles or fragile builds.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F3F5F-3D54-4750-B72A-C581F9EF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181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9525">
            <a:solidFill>
              <a:srgbClr val="2030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6E4B4-BD57-426B-B554-CE33121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CFAE2-9320-4694-9A42-C49724E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1562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9525">
            <a:solidFill>
              <a:srgbClr val="2030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D1D3F2-D7A6-4387-8A62-3620A412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386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SaaS MVP Delivery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932815-E178-437A-9ECD-19A4420E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62450"/>
            <a:ext cx="1504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9525">
            <a:solidFill>
              <a:srgbClr val="20304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F954E6-F327-4F98-A8CD-787EC8CE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Augmented Teams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08ECCC-4C0D-4570-B604-B258501A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F77F8-D52D-42FC-936C-F16A112B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2-6 weeks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F22E9D-29FA-45C1-B6C0-C1B44ACD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typical first delivery window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D24D5-061E-4946-A3FD-101F1C7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76800"/>
            <a:ext cx="1581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36BF7-E538-414D-8CBD-1C4B074B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48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Weekly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3845A9-F462-400C-AF2E-D5F973F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91150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working demos and sprint feedback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27119B-C1FD-4267-A32D-82EE563E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76800"/>
            <a:ext cx="17716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83A23F-51AE-4773-8E4B-6CF87FC0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48250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Arch-first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5B535A-CF98-4B76-A2A7-96E3331C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1466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scope, data, and deployment planned early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CDDE9B-71D3-4530-8807-466497E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90600"/>
            <a:ext cx="495300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0C162A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61a62ff244efc"/>
          <a:srcRect xmlns:a="http://schemas.openxmlformats.org/drawingml/2006/main" l="19885" t="0" r="198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1143000"/>
            <a:ext cx="4648200" cy="434340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095CBE-2AA1-4EB1-9AA8-A2834404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05400"/>
            <a:ext cx="417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A9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A92"/>
                </a:solidFill>
                <a:latin typeface="Aptos"/>
                <a:ea typeface="Aptos"/>
                <a:cs typeface="Aptos"/>
              </a:rPr>
              <a:t>AI services, product workflows, and delivery operations in one execution model.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953E1E-D308-46AD-A5FC-09DCB7E5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3BA7DD-E387-45E6-BCF6-E558B92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Free consultation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0C5E2A-4A4D-4573-8254-27C8F1E5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579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AI workflow audit, MVP scoping, and delivery recommendation.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AF414B-8A56-4E8C-A91B-60AD1FDE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115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support@sofgent.com  |  calendly.com/sofgent</a:t>
            </a:r>
          </a:p>
        </p:txBody>
      </p:sp>
    </p:spTree>
    <p:extLst>
      <p:ext uri="{BB962C8B-B14F-4D97-AF65-F5344CB8AC3E}">
        <p14:creationId xmlns:p14="http://schemas.microsoft.com/office/powerpoint/2010/main" val="17122245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BAFBE4-26A8-4A36-994A-2B19300A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8"/>
          </a:solidFill>
          <a:ln xmlns:a="http://schemas.openxmlformats.org/drawingml/2006/main" w="0">
            <a:solidFill>
              <a:srgbClr val="050B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FB0D5-8E4D-4A2D-B804-BA1CFFC5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3750"/>
          </a:solidFill>
          <a:ln xmlns:a="http://schemas.openxmlformats.org/drawingml/2006/main" w="0">
            <a:solidFill>
              <a:srgbClr val="0C375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EBBD5-AF50-460D-A116-8F9BE1A7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10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33A"/>
          </a:solidFill>
          <a:ln xmlns:a="http://schemas.openxmlformats.org/drawingml/2006/main" w="0">
            <a:solidFill>
              <a:srgbClr val="0A23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14769-8EC2-472A-9E70-0F9587BD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C57F2-4FF3-4139-9A3D-19C9F77C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65022E-4F92-4D9E-AEC8-29A341D7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24009-354B-4EE1-AD06-7D644FE4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EA240-6A0F-4C43-8A57-FEB07F57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5C226-9A35-4D43-9352-F41B2CBC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CF67C-0A1A-4300-B99F-63E3A31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F902F-90D3-46FA-B3B1-BF4E2F46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9667B-E4D7-4809-BEE2-A8CED6C4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0D9D7-E9BA-4D7B-BE4A-EC816429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F999F-AE74-4E00-A981-34C06694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2436D0-F58F-428E-9745-FFA1278A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A66DA-0E8E-4966-87DF-A10E6A13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F2E3E-648D-47D9-907C-24BB08C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D480B-18A5-4E1D-89E6-7E3857D1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2D29F-5C3A-42EB-87A5-73604A51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B4C57-33BE-4412-875E-A6BC2A07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C9E46-4C52-4348-81CB-4BA5F06D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5E962-9A2D-49EE-AA0A-7EDFF36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4723E-CC3A-4E2E-9356-0408AF68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752D6-D965-42B3-A18B-25F25522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0233A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7ED55A-D319-4FCD-868F-9FC92D62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AI SERVICES + MVP 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09B85B-C527-42B5-83B0-61FA5DF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7067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AI service delivery built around operations, with MVP execution that can survive growth.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8D49E3-444D-487A-8EFB-C84351A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We focus on the systems that remove operating friction, ship product value fast, and give founders a production path instead of a rewrite path.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A3D05-9B28-4725-8743-01EB866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3340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861E02-26EF-4B5C-A8AD-305C384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AI service scope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65ADD0-EA2A-43B8-B6F9-B1A318A8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EB185D-73A6-4233-B357-F5BE0A3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037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implementation inside the systems your team already runs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0D73F-5307-488B-84B4-24257A21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28C46E-F47C-4B19-9785-2523BB09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Document intelligence: OCR, extraction, validation, and review flows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098376-F8F3-4A94-BD18-11166E4F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A27F3E-A8D0-4C2F-A272-25F74F70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2907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Workflow automation across CRM, ERP, payments, and internal tools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9302EF-71E1-4C2A-9C7E-511DED2F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8D6C6B-8A5F-49C0-AA67-8ADBED95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43425"/>
            <a:ext cx="455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integrations, knowledge systems, and internal business software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D122D3-6EBB-4A9D-AA17-112721B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5238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F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f4e666c9e4c15"/>
          <a:srcRect xmlns:a="http://schemas.openxmlformats.org/drawingml/2006/main" l="16910" t="0" r="169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2628900"/>
            <a:ext cx="2419350" cy="20574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BB6ED8-6189-42AD-9357-F7ADFA9F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67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30-day MVP launch model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BD97E3-1FF3-48AB-90E6-C1538D0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D57894-F0F6-41BF-91C0-2D919449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813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CCBAB1-8311-4A7F-9DA1-91F96708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623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Define the smallest valuable wedge and the operating constraint it solves.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763B34-8380-4645-B376-5C254869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FCB817-40FC-46A4-BF2D-8CD5E37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766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48759F-7963-47A1-B531-269E4A26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576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Set tenancy, auth, data model, integrations, and deployment path up front.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030EC-8733-4B2E-A58F-AAE406A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814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4261DC-64D0-4DCE-9E57-AEBBBBE1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719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B8B03-C5DB-4AE9-8FE5-4932BFE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529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Ship the customer-facing surface, admin workflow, and core API in focused sprints.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28E28C-B1AB-4D37-8FA8-714E3195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76750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566232-E072-42C4-927C-03D5995A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6722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Launch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E18C43-1E4B-4409-BD74-F7902912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648200"/>
            <a:ext cx="1771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Deploy with monitoring, QA, and a handover path your team can own.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7E8ECC-0513-4DC0-8F8F-B046547B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65896A8-AB7D-437A-B494-D22671AF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4 weeks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FAFF93-6A53-494C-B005-831A528A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388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first production AI workflow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2B2061-A46C-4C39-A665-E0C88A0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00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78%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472193-C4AD-45F0-9D31-2B407EA2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8388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less manual document handling in sanitized delivery work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C87E9F-129D-4547-8032-FBB7F421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007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Multi-tenant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F660D3-B9C6-47DF-8063-AA80F812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838825"/>
            <a:ext cx="2362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MVP architecture designed from day one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81C31B-B992-4039-B374-943A174E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108204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0B64B8-C498-49AB-A3E0-43553518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324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Best fit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F8874A1-70E0-41ED-9909-4EA7185A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246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Startups, SMEs, and ops-heavy teams that need real software outcomes fast.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DEE71CF-6282-4F59-97A8-29F5C725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3817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View case studies  |  sofgent.com/case-studies</a:t>
            </a:r>
          </a:p>
        </p:txBody>
      </p:sp>
    </p:spTree>
    <p:extLst>
      <p:ext uri="{BB962C8B-B14F-4D97-AF65-F5344CB8AC3E}">
        <p14:creationId xmlns:p14="http://schemas.microsoft.com/office/powerpoint/2010/main" val="1163815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EE87B3-F42D-4CA0-B808-EB971949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8"/>
          </a:solidFill>
          <a:ln xmlns:a="http://schemas.openxmlformats.org/drawingml/2006/main" w="0">
            <a:solidFill>
              <a:srgbClr val="050B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BD7AF-7489-4DC4-A614-3F49E489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A36"/>
          </a:solidFill>
          <a:ln xmlns:a="http://schemas.openxmlformats.org/drawingml/2006/main" w="0">
            <a:solidFill>
              <a:srgbClr val="0C375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867A3-420C-43C5-8B39-0E66DA9F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33A"/>
          </a:solidFill>
          <a:ln xmlns:a="http://schemas.openxmlformats.org/drawingml/2006/main" w="0">
            <a:solidFill>
              <a:srgbClr val="0A233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0DE44-1AFB-48B4-B291-2AF1894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AD836-985B-4AF5-959D-39D08F2E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EE548-C8C4-4B04-AF6B-F28650F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389E8-7C33-4639-AB1E-67EA90D5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4F6F9-C0A1-4AF1-B94A-5EEAE15A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E147E-A619-4153-BF48-FD016935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60889-F9F8-4A89-B118-D9E671F4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3A2C1-97A1-47C7-8300-8FFA896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6B673-0F0A-4987-8B97-098784AF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F0583-E651-48AF-A28B-E43AC208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6EE2-7C7E-4712-8C92-00D17418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A5F84-B8B0-44CC-9AEC-67020CD6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64B5B-9E48-416F-A505-C62653B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ED2A4D-DF27-4B06-82DC-E3508FEA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441CBE-98CD-4EF7-A6F4-0250E588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F9AC7-320E-4AEF-B4E3-88821C49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DFAB32-FC3B-415F-B367-A9EB2E9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86CE68-3CB9-40C8-AD7D-4513EEDC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45AE4-7447-422D-A297-835E77EC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83590-A294-4C2A-BC60-B29E5B12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A"/>
          </a:solidFill>
          <a:ln xmlns:a="http://schemas.openxmlformats.org/drawingml/2006/main" w="0">
            <a:solidFill>
              <a:srgbClr val="1220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F079E-AF11-4678-B81B-C6576A2E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562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E2A28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923AA-A1F5-40F0-AC75-BDC2C74A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"/>
            <a:ext cx="1295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AUGMENTED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58BF1E-F94E-4DE8-9232-6A4A7CE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647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Augmented teams for delivery spikes, modernization work, and AI execution capacity.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DB9601-A6D7-4CB4-9298-1A5BE127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When your internal team needs senior execution without the overhead of full-time hiring, SofGent can operate as an embedded build pod focused on speed, architecture quality, and dependable handoff.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95FA3-945C-435A-BC0A-B23E31AB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0B1324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8F3050-A40B-4E2E-AA83-EC94049B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4D3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4D399"/>
                </a:solidFill>
                <a:latin typeface="Aptos"/>
                <a:ea typeface="Aptos"/>
                <a:cs typeface="Aptos"/>
              </a:rPr>
              <a:t>When to use 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544D7-124C-4D06-A78D-00C4045A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40CBF-879E-4DEA-9613-BA215E58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Unblock architecture, integrations, or AI implementation without hiring a full internal squad first.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91D8C-ECB7-42FE-99A0-C6B05492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CFDDF-6640-4F46-8DE3-B0C28C0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95725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Embed with founders, CTOs, or product teams for 30-90 day delivery pushes.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679A9A-3E16-4DFB-9679-2826BB01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AE1622-751A-4132-B07C-B7B28AFB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24375"/>
            <a:ext cx="3695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Own sprint execution, weekly demos, and handoff so internal teams do not inherit chaos.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CAB238-AD36-4DD1-B99D-ED4487CD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61150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0F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291AC8-23D3-47D1-9F0A-43F950C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33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Typical delivery pod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356173-0D13-4EB7-993C-32288ECB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19450"/>
            <a:ext cx="26098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BDEE56-AA4D-44DF-A41A-238D5E7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Tech lead / architect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95C805-02D7-49C1-A08E-A38F00C9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814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System boundaries, solution design, delivery direction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2030CA-66C2-4F42-B909-3E5FFA3D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26098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16B636-02D4-482B-865A-91F17614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528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Full-stack engineer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2697FD-7D89-43B9-A122-F0B089DF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814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App surface, APIs, auth, billing, and product workflows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5D9885-5A63-4ED1-8296-8906C61D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91000"/>
            <a:ext cx="26098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7B443B-26DC-44F9-B753-D2CE50F6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243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/ integration engineer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9A17E7-8C0F-4D81-8533-B32F911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529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Automation, OCR, RAG, partner APIs, and orchestration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2E2FCC-EC6A-4E6A-B4F0-ADD84B24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6098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11B31"/>
          </a:solidFill>
          <a:ln xmlns:a="http://schemas.openxmlformats.org/drawingml/2006/main" w="11430">
            <a:solidFill>
              <a:srgbClr val="20304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009C36-17B7-496A-B399-446B7078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243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QA / DevOps support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C1BBF6-E549-4E55-8A46-C59C310C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Release checks, environments, observability, and stabilization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0a51b4f7474f"/>
          <a:srcRect xmlns:a="http://schemas.openxmlformats.org/drawingml/2006/main" l="0" t="32289" r="0" b="32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562600"/>
            <a:ext cx="2076450" cy="4381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A84035-F615-4292-A6D2-1A8DFF65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388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A9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A92"/>
                </a:solidFill>
                <a:latin typeface="Aptos"/>
                <a:ea typeface="Aptos"/>
                <a:cs typeface="Aptos"/>
              </a:rPr>
              <a:t>Embedded delivery works best when architecture, build, and operating constraints are reviewed together.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B3702E-7950-4C64-83A0-ACD85BF9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4267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989A63-D704-4BD5-AE69-B2E6693A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2-5 contributors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AC2FCD-60F6-4550-9645-059C495A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8483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Typical embedded pod size depending on architecture, AI, frontend, and integration scope.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F22C98-3805-454C-A00F-64F9D658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30-90 day sprints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E67BE22-F7B9-4838-9F77-B156507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48350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Weekly demos, direct Slack coordination, and a handoff plan when the sprint ends.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24A612-7374-46A0-AF01-7082F61A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E1930"/>
          </a:solidFill>
          <a:ln xmlns:a="http://schemas.openxmlformats.org/drawingml/2006/main" w="11430">
            <a:solidFill>
              <a:srgbClr val="29405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F9D424-62C9-4E3D-87D1-CEE708E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579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1A5407-3321-4EBB-B4BC-B8A3823C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2579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9B7D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7D0"/>
                </a:solidFill>
                <a:latin typeface="Aptos"/>
                <a:ea typeface="Aptos"/>
                <a:cs typeface="Aptos"/>
              </a:rPr>
              <a:t>Start with a free architecture review, AI workflow audit, or MVP scoping call.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EFFBA19-9FE9-4301-A350-C18A4ABE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11505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support@sofgent.com  |  sofgent.com/contact</a:t>
            </a:r>
          </a:p>
        </p:txBody>
      </p:sp>
    </p:spTree>
    <p:extLst>
      <p:ext uri="{BB962C8B-B14F-4D97-AF65-F5344CB8AC3E}">
        <p14:creationId xmlns:p14="http://schemas.microsoft.com/office/powerpoint/2010/main" val="212638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2026-06-08T13:30:38.2360000Z</dcterms:created>
  <dcterms:modified xsi:type="dcterms:W3CDTF">2026-06-08T13:30:38.2360000Z</dcterms:modified>
</coreProperties>
</file>